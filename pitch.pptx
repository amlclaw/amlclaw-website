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0" y="1371600"/>
            <a:ext cx="3931920" cy="25400"/>
          </a:xfrm>
          <a:prstGeom prst="rect">
            <a:avLst/>
          </a:prstGeom>
          <a:solidFill>
            <a:srgbClr val="8AB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E3E3E3"/>
                </a:solidFill>
                <a:latin typeface="Arial"/>
              </a:defRPr>
            </a:pPr>
            <a:r>
              <a:t>Humans Work for AI.</a:t>
            </a:r>
            <a:br/>
            <a:r>
              <a:t>AI Works for Compliance.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0" y="3474720"/>
            <a:ext cx="3931920" cy="25400"/>
          </a:xfrm>
          <a:prstGeom prst="rect">
            <a:avLst/>
          </a:prstGeom>
          <a:solidFill>
            <a:srgbClr val="8AB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8AB4F8"/>
                </a:solidFill>
                <a:latin typeface="Arial"/>
              </a:defRPr>
            </a:pPr>
            <a:r>
              <a:t>AMLClaw — Open Source AI Compliance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9436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28282"/>
                </a:solidFill>
                <a:latin typeface="Arial"/>
              </a:defRPr>
            </a:pPr>
            <a:r>
              <a:t>github.com/amlclaw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E3E3E3"/>
                </a:solidFill>
                <a:latin typeface="Arial"/>
              </a:defRPr>
            </a:pPr>
            <a:r>
              <a:t>You're Still Paying Humans to Read PDFs?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234440"/>
            <a:ext cx="1828800" cy="25400"/>
          </a:xfrm>
          <a:prstGeom prst="rect">
            <a:avLst/>
          </a:prstGeom>
          <a:solidFill>
            <a:srgbClr val="8AB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2560320" cy="3474720"/>
          </a:xfrm>
          <a:prstGeom prst="roundRect">
            <a:avLst>
              <a:gd name="adj" fmla="val 5000"/>
            </a:avLst>
          </a:prstGeom>
          <a:solidFill>
            <a:srgbClr val="161616"/>
          </a:solidFill>
          <a:ln w="12700"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10312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E3E3E3"/>
                </a:solidFill>
                <a:latin typeface="Arial"/>
              </a:defRPr>
            </a:pPr>
            <a:r>
              <a:t>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83464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8AB4F8"/>
                </a:solidFill>
                <a:latin typeface="Arial"/>
              </a:defRPr>
            </a:pPr>
            <a:r>
              <a:t>$500K–$1M / year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023360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28282"/>
                </a:solidFill>
                <a:latin typeface="Arial"/>
              </a:defRPr>
            </a:pPr>
            <a:r>
              <a:t>Cost of a compliance team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66160" y="1828800"/>
            <a:ext cx="2560320" cy="3474720"/>
          </a:xfrm>
          <a:prstGeom prst="roundRect">
            <a:avLst>
              <a:gd name="adj" fmla="val 5000"/>
            </a:avLst>
          </a:prstGeom>
          <a:solidFill>
            <a:srgbClr val="161616"/>
          </a:solidFill>
          <a:ln w="12700"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0" y="210312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E3E3E3"/>
                </a:solidFill>
                <a:latin typeface="Arial"/>
              </a:defRPr>
            </a:pPr>
            <a:r>
              <a:t>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49040" y="283464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8AB4F8"/>
                </a:solidFill>
                <a:latin typeface="Arial"/>
              </a:defRPr>
            </a:pPr>
            <a:r>
              <a:t>4 Weeks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9040" y="4023360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28282"/>
                </a:solidFill>
                <a:latin typeface="Arial"/>
              </a:defRPr>
            </a:pPr>
            <a:r>
              <a:t>To write one policy for one jurisdiction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1828800"/>
            <a:ext cx="2560320" cy="3474720"/>
          </a:xfrm>
          <a:prstGeom prst="roundRect">
            <a:avLst>
              <a:gd name="adj" fmla="val 5000"/>
            </a:avLst>
          </a:prstGeom>
          <a:solidFill>
            <a:srgbClr val="161616"/>
          </a:solidFill>
          <a:ln w="12700"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0" y="210312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E3E3E3"/>
                </a:solidFill>
                <a:latin typeface="Arial"/>
              </a:defRPr>
            </a:pPr>
            <a:r>
              <a:t>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83464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8AB4F8"/>
                </a:solidFill>
                <a:latin typeface="Arial"/>
              </a:defRPr>
            </a:pPr>
            <a:r>
              <a:t>Half a Day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4023360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28282"/>
                </a:solidFill>
                <a:latin typeface="Arial"/>
              </a:defRPr>
            </a:pPr>
            <a:r>
              <a:t>To screen a single address manually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235440" y="1828800"/>
            <a:ext cx="2560320" cy="3474720"/>
          </a:xfrm>
          <a:prstGeom prst="roundRect">
            <a:avLst>
              <a:gd name="adj" fmla="val 5000"/>
            </a:avLst>
          </a:prstGeom>
          <a:solidFill>
            <a:srgbClr val="161616"/>
          </a:solidFill>
          <a:ln w="12700"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09760" y="210312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E3E3E3"/>
                </a:solidFill>
                <a:latin typeface="Arial"/>
              </a:defRPr>
            </a:pPr>
            <a:r>
              <a:t>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18320" y="283464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8AB4F8"/>
                </a:solidFill>
                <a:latin typeface="Arial"/>
              </a:defRPr>
            </a:pPr>
            <a:r>
              <a:t>80%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18320" y="4023360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28282"/>
                </a:solidFill>
                <a:latin typeface="Arial"/>
              </a:defRPr>
            </a:pPr>
            <a:r>
              <a:t>Of crypto startups skip compliance entirely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76072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828282"/>
                </a:solidFill>
                <a:latin typeface="Arial"/>
              </a:defRPr>
            </a:pPr>
            <a:r>
              <a:t>"Most compliance teams cost more than the seed round."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E3E3E3"/>
                </a:solidFill>
                <a:latin typeface="Arial"/>
              </a:defRPr>
            </a:pPr>
            <a:r>
              <a:t>The Compliance Assembly 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058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828282"/>
                </a:solidFill>
                <a:latin typeface="Arial"/>
              </a:defRPr>
            </a:pPr>
            <a:r>
              <a:t>Every step is manual. Every step costs money.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234440"/>
            <a:ext cx="1828800" cy="25400"/>
          </a:xfrm>
          <a:prstGeom prst="rect">
            <a:avLst/>
          </a:prstGeom>
          <a:solidFill>
            <a:srgbClr val="8AB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2011680"/>
            <a:ext cx="2011680" cy="2926080"/>
          </a:xfrm>
          <a:prstGeom prst="roundRect">
            <a:avLst>
              <a:gd name="adj" fmla="val 5000"/>
            </a:avLst>
          </a:prstGeom>
          <a:solidFill>
            <a:srgbClr val="161616"/>
          </a:solidFill>
          <a:ln w="12700"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2194560"/>
            <a:ext cx="1737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8AB4F8"/>
                </a:solidFill>
                <a:latin typeface="Arial"/>
              </a:defRPr>
            </a:pPr>
            <a:r>
              <a:t>👤 Lawyer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10896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E3E3E3"/>
                </a:solidFill>
                <a:latin typeface="Arial"/>
              </a:defRPr>
            </a:pPr>
            <a:r>
              <a:t>Read regulations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84048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87171"/>
                </a:solidFill>
                <a:latin typeface="Arial"/>
              </a:defRPr>
            </a:pPr>
            <a:r>
              <a:t>2 weeks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23160" y="29260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828282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88920" y="2011680"/>
            <a:ext cx="2011680" cy="2926080"/>
          </a:xfrm>
          <a:prstGeom prst="roundRect">
            <a:avLst>
              <a:gd name="adj" fmla="val 5000"/>
            </a:avLst>
          </a:prstGeom>
          <a:solidFill>
            <a:srgbClr val="161616"/>
          </a:solidFill>
          <a:ln w="12700"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26080" y="2194560"/>
            <a:ext cx="1737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8AB4F8"/>
                </a:solidFill>
                <a:latin typeface="Arial"/>
              </a:defRPr>
            </a:pPr>
            <a:r>
              <a:t>👤 Compliance</a:t>
            </a:r>
            <a:br/>
            <a:r>
              <a:t>    Officer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0" y="310896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E3E3E3"/>
                </a:solidFill>
                <a:latin typeface="Arial"/>
              </a:defRPr>
            </a:pPr>
            <a:r>
              <a:t>Write policy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0" y="384048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87171"/>
                </a:solidFill>
                <a:latin typeface="Arial"/>
              </a:defRPr>
            </a:pPr>
            <a:r>
              <a:t>2 weeks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29260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828282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120640" y="2011680"/>
            <a:ext cx="2011680" cy="2926080"/>
          </a:xfrm>
          <a:prstGeom prst="roundRect">
            <a:avLst>
              <a:gd name="adj" fmla="val 5000"/>
            </a:avLst>
          </a:prstGeom>
          <a:solidFill>
            <a:srgbClr val="161616"/>
          </a:solidFill>
          <a:ln w="12700"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57800" y="2194560"/>
            <a:ext cx="1737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8AB4F8"/>
                </a:solidFill>
                <a:latin typeface="Arial"/>
              </a:defRPr>
            </a:pPr>
            <a:r>
              <a:t>👤 Engineer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57800" y="310896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E3E3E3"/>
                </a:solidFill>
                <a:latin typeface="Arial"/>
              </a:defRPr>
            </a:pPr>
            <a:r>
              <a:t>Build rules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57800" y="384048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87171"/>
                </a:solidFill>
                <a:latin typeface="Arial"/>
              </a:defRPr>
            </a:pPr>
            <a:r>
              <a:t>1 week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86600" y="29260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828282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52359" y="2011680"/>
            <a:ext cx="2011680" cy="2926080"/>
          </a:xfrm>
          <a:prstGeom prst="roundRect">
            <a:avLst>
              <a:gd name="adj" fmla="val 5000"/>
            </a:avLst>
          </a:prstGeom>
          <a:solidFill>
            <a:srgbClr val="161616"/>
          </a:solidFill>
          <a:ln w="12700"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89519" y="2194560"/>
            <a:ext cx="1737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8AB4F8"/>
                </a:solidFill>
                <a:latin typeface="Arial"/>
              </a:defRPr>
            </a:pPr>
            <a:r>
              <a:t>👤 Analyst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89519" y="310896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E3E3E3"/>
                </a:solidFill>
                <a:latin typeface="Arial"/>
              </a:defRPr>
            </a:pPr>
            <a:r>
              <a:t>Screen addresses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89519" y="384048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87171"/>
                </a:solidFill>
                <a:latin typeface="Arial"/>
              </a:defRPr>
            </a:pPr>
            <a:r>
              <a:t>half day each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18319" y="29260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828282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784080" y="2011680"/>
            <a:ext cx="2011680" cy="2926080"/>
          </a:xfrm>
          <a:prstGeom prst="roundRect">
            <a:avLst>
              <a:gd name="adj" fmla="val 5000"/>
            </a:avLst>
          </a:prstGeom>
          <a:solidFill>
            <a:srgbClr val="161616"/>
          </a:solidFill>
          <a:ln w="12700"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921240" y="2194560"/>
            <a:ext cx="1737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8AB4F8"/>
                </a:solidFill>
                <a:latin typeface="Arial"/>
              </a:defRPr>
            </a:pPr>
            <a:r>
              <a:t>👤 Manager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21240" y="310896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E3E3E3"/>
                </a:solidFill>
                <a:latin typeface="Arial"/>
              </a:defRPr>
            </a:pPr>
            <a:r>
              <a:t>Monitor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21240" y="384048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87171"/>
                </a:solidFill>
                <a:latin typeface="Arial"/>
              </a:defRPr>
            </a:pPr>
            <a:r>
              <a:t>spot checks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54864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828282"/>
                </a:solidFill>
                <a:latin typeface="Arial"/>
              </a:defRPr>
            </a:pPr>
            <a:r>
              <a:t>5 humans  ×  12 months  =  💰💰💰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E3E3E3"/>
                </a:solidFill>
                <a:latin typeface="Arial"/>
              </a:defRPr>
            </a:pPr>
            <a:r>
              <a:t>What If We Flip It?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234440"/>
            <a:ext cx="1828800" cy="25400"/>
          </a:xfrm>
          <a:prstGeom prst="rect">
            <a:avLst/>
          </a:prstGeom>
          <a:solidFill>
            <a:srgbClr val="8AB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371600" y="1645920"/>
          <a:ext cx="941832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560320"/>
                <a:gridCol w="640080"/>
                <a:gridCol w="3474720"/>
              </a:tblGrid>
              <a:tr h="533400"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828282"/>
                          </a:solidFill>
                          <a:latin typeface="Arial"/>
                        </a:defRPr>
                      </a:pPr>
                    </a:p>
                  </a:txBody>
                  <a:tcPr>
                    <a:solidFill>
                      <a:srgbClr val="19191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828282"/>
                          </a:solidFill>
                          <a:latin typeface="Arial"/>
                        </a:defRPr>
                      </a:pPr>
                      <a:r>
                        <a:t>OLD</a:t>
                      </a:r>
                    </a:p>
                  </a:txBody>
                  <a:tcPr>
                    <a:solidFill>
                      <a:srgbClr val="19191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828282"/>
                          </a:solidFill>
                          <a:latin typeface="Arial"/>
                        </a:defRPr>
                      </a:pPr>
                    </a:p>
                  </a:txBody>
                  <a:tcPr>
                    <a:solidFill>
                      <a:srgbClr val="19191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8AB4F8"/>
                          </a:solidFill>
                          <a:latin typeface="Arial"/>
                        </a:defRPr>
                      </a:pPr>
                      <a:r>
                        <a:t>NEW</a:t>
                      </a:r>
                    </a:p>
                  </a:txBody>
                  <a:tcPr>
                    <a:solidFill>
                      <a:srgbClr val="191919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r">
                        <a:defRPr sz="1600" b="0">
                          <a:solidFill>
                            <a:srgbClr val="828282"/>
                          </a:solidFill>
                          <a:latin typeface="Arial"/>
                        </a:defRPr>
                      </a:pPr>
                      <a:r>
                        <a:t>Read regulations</a:t>
                      </a:r>
                    </a:p>
                  </a:txBody>
                  <a:tcPr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828282"/>
                          </a:solidFill>
                          <a:latin typeface="Arial"/>
                        </a:defRPr>
                      </a:pPr>
                      <a:r>
                        <a:t>👤 Humans</a:t>
                      </a:r>
                    </a:p>
                  </a:txBody>
                  <a:tcPr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828282"/>
                          </a:solidFill>
                          <a:latin typeface="Arial"/>
                        </a:defRPr>
                      </a:pPr>
                      <a:r>
                        <a:t>→</a:t>
                      </a:r>
                    </a:p>
                  </a:txBody>
                  <a:tcPr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8AB4F8"/>
                          </a:solidFill>
                          <a:latin typeface="Arial"/>
                        </a:defRPr>
                      </a:pPr>
                      <a:r>
                        <a:t>🤖 AI</a:t>
                      </a:r>
                    </a:p>
                  </a:txBody>
                  <a:tcPr>
                    <a:solidFill>
                      <a:srgbClr val="121C32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r">
                        <a:defRPr sz="1600" b="0">
                          <a:solidFill>
                            <a:srgbClr val="828282"/>
                          </a:solidFill>
                          <a:latin typeface="Arial"/>
                        </a:defRPr>
                      </a:pPr>
                      <a:r>
                        <a:t>Write policies</a:t>
                      </a:r>
                    </a:p>
                  </a:txBody>
                  <a:tcPr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828282"/>
                          </a:solidFill>
                          <a:latin typeface="Arial"/>
                        </a:defRPr>
                      </a:pPr>
                      <a:r>
                        <a:t>👤 Humans</a:t>
                      </a:r>
                    </a:p>
                  </a:txBody>
                  <a:tcPr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828282"/>
                          </a:solidFill>
                          <a:latin typeface="Arial"/>
                        </a:defRPr>
                      </a:pPr>
                      <a:r>
                        <a:t>→</a:t>
                      </a:r>
                    </a:p>
                  </a:txBody>
                  <a:tcPr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8AB4F8"/>
                          </a:solidFill>
                          <a:latin typeface="Arial"/>
                        </a:defRPr>
                      </a:pPr>
                      <a:r>
                        <a:t>🤖 AI</a:t>
                      </a:r>
                    </a:p>
                  </a:txBody>
                  <a:tcPr>
                    <a:solidFill>
                      <a:srgbClr val="121C32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r">
                        <a:defRPr sz="1600" b="0">
                          <a:solidFill>
                            <a:srgbClr val="828282"/>
                          </a:solidFill>
                          <a:latin typeface="Arial"/>
                        </a:defRPr>
                      </a:pPr>
                      <a:r>
                        <a:t>Build rules</a:t>
                      </a:r>
                    </a:p>
                  </a:txBody>
                  <a:tcPr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828282"/>
                          </a:solidFill>
                          <a:latin typeface="Arial"/>
                        </a:defRPr>
                      </a:pPr>
                      <a:r>
                        <a:t>👤 Humans</a:t>
                      </a:r>
                    </a:p>
                  </a:txBody>
                  <a:tcPr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828282"/>
                          </a:solidFill>
                          <a:latin typeface="Arial"/>
                        </a:defRPr>
                      </a:pPr>
                      <a:r>
                        <a:t>→</a:t>
                      </a:r>
                    </a:p>
                  </a:txBody>
                  <a:tcPr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8AB4F8"/>
                          </a:solidFill>
                          <a:latin typeface="Arial"/>
                        </a:defRPr>
                      </a:pPr>
                      <a:r>
                        <a:t>🤖 AI</a:t>
                      </a:r>
                    </a:p>
                  </a:txBody>
                  <a:tcPr>
                    <a:solidFill>
                      <a:srgbClr val="121C32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r">
                        <a:defRPr sz="1600" b="0">
                          <a:solidFill>
                            <a:srgbClr val="828282"/>
                          </a:solidFill>
                          <a:latin typeface="Arial"/>
                        </a:defRPr>
                      </a:pPr>
                      <a:r>
                        <a:t>Screen addresses</a:t>
                      </a:r>
                    </a:p>
                  </a:txBody>
                  <a:tcPr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828282"/>
                          </a:solidFill>
                          <a:latin typeface="Arial"/>
                        </a:defRPr>
                      </a:pPr>
                      <a:r>
                        <a:t>👤 Humans</a:t>
                      </a:r>
                    </a:p>
                  </a:txBody>
                  <a:tcPr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828282"/>
                          </a:solidFill>
                          <a:latin typeface="Arial"/>
                        </a:defRPr>
                      </a:pPr>
                      <a:r>
                        <a:t>→</a:t>
                      </a:r>
                    </a:p>
                  </a:txBody>
                  <a:tcPr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8AB4F8"/>
                          </a:solidFill>
                          <a:latin typeface="Arial"/>
                        </a:defRPr>
                      </a:pPr>
                      <a:r>
                        <a:t>🤖 AI</a:t>
                      </a:r>
                    </a:p>
                  </a:txBody>
                  <a:tcPr>
                    <a:solidFill>
                      <a:srgbClr val="121C32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r">
                        <a:defRPr sz="1600" b="0">
                          <a:solidFill>
                            <a:srgbClr val="828282"/>
                          </a:solidFill>
                          <a:latin typeface="Arial"/>
                        </a:defRPr>
                      </a:pPr>
                      <a:r>
                        <a:t>Monitor 24/7</a:t>
                      </a:r>
                    </a:p>
                  </a:txBody>
                  <a:tcPr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828282"/>
                          </a:solidFill>
                          <a:latin typeface="Arial"/>
                        </a:defRPr>
                      </a:pPr>
                      <a:r>
                        <a:t>👤 Humans</a:t>
                      </a:r>
                    </a:p>
                  </a:txBody>
                  <a:tcPr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828282"/>
                          </a:solidFill>
                          <a:latin typeface="Arial"/>
                        </a:defRPr>
                      </a:pPr>
                      <a:r>
                        <a:t>→</a:t>
                      </a:r>
                    </a:p>
                  </a:txBody>
                  <a:tcPr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8AB4F8"/>
                          </a:solidFill>
                          <a:latin typeface="Arial"/>
                        </a:defRPr>
                      </a:pPr>
                      <a:r>
                        <a:t>🤖 AI</a:t>
                      </a:r>
                    </a:p>
                  </a:txBody>
                  <a:tcPr>
                    <a:solidFill>
                      <a:srgbClr val="121C32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914400" y="521208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8AB4F8"/>
                </a:solidFill>
                <a:latin typeface="Arial"/>
              </a:defRPr>
            </a:pPr>
            <a:r>
              <a:t>Humans work FOR AI — train, guide, supervise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66928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8AB4F8"/>
                </a:solidFill>
                <a:latin typeface="Arial"/>
              </a:defRPr>
            </a:pPr>
            <a:r>
              <a:t>AI works FOR compliance — read, write, execute, monitor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E3E3E3"/>
                </a:solidFill>
                <a:latin typeface="Arial"/>
              </a:defRPr>
            </a:pPr>
            <a:r>
              <a:t>One Pipeline. Full Compliance.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234440"/>
            <a:ext cx="1828800" cy="25400"/>
          </a:xfrm>
          <a:prstGeom prst="rect">
            <a:avLst/>
          </a:prstGeom>
          <a:solidFill>
            <a:srgbClr val="8AB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645920"/>
            <a:ext cx="2011680" cy="3474720"/>
          </a:xfrm>
          <a:prstGeom prst="roundRect">
            <a:avLst>
              <a:gd name="adj" fmla="val 5000"/>
            </a:avLst>
          </a:prstGeom>
          <a:solidFill>
            <a:srgbClr val="121928"/>
          </a:solidFill>
          <a:ln w="12700">
            <a:solidFill>
              <a:srgbClr val="3C5A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82880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E3E3E3"/>
                </a:solidFill>
                <a:latin typeface="Arial"/>
              </a:defRPr>
            </a:pPr>
            <a:r>
              <a:t>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37744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8AB4F8"/>
                </a:solidFill>
                <a:latin typeface="Arial"/>
              </a:defRPr>
            </a:pPr>
            <a:r>
              <a:t>Documents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017520"/>
            <a:ext cx="1737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E3E3E3"/>
                </a:solidFill>
                <a:latin typeface="Arial"/>
              </a:defRPr>
            </a:pPr>
            <a:r>
              <a:t>40+ regs</a:t>
            </a:r>
            <a:br/>
            <a:r>
              <a:t>pre-loaded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411480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6EE7B7"/>
                </a:solidFill>
                <a:latin typeface="Arial"/>
              </a:defRPr>
            </a:pPr>
            <a:r>
              <a:t>Human uploads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23160" y="29260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8AB4F8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88920" y="1645920"/>
            <a:ext cx="2011680" cy="3474720"/>
          </a:xfrm>
          <a:prstGeom prst="roundRect">
            <a:avLst>
              <a:gd name="adj" fmla="val 5000"/>
            </a:avLst>
          </a:prstGeom>
          <a:solidFill>
            <a:srgbClr val="121928"/>
          </a:solidFill>
          <a:ln w="12700">
            <a:solidFill>
              <a:srgbClr val="3C5A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26080" y="182880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E3E3E3"/>
                </a:solidFill>
                <a:latin typeface="Arial"/>
              </a:defRPr>
            </a:pPr>
            <a:r>
              <a:t>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0" y="237744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8AB4F8"/>
                </a:solidFill>
                <a:latin typeface="Arial"/>
              </a:defRPr>
            </a:pPr>
            <a:r>
              <a:t>Policies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0" y="3017520"/>
            <a:ext cx="1737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E3E3E3"/>
                </a:solidFill>
                <a:latin typeface="Arial"/>
              </a:defRPr>
            </a:pPr>
            <a:r>
              <a:t>AI generates</a:t>
            </a:r>
            <a:br/>
            <a:r>
              <a:t>in 2 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411480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6EE7B7"/>
                </a:solidFill>
                <a:latin typeface="Arial"/>
              </a:defRPr>
            </a:pPr>
            <a:r>
              <a:t>Human reviews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29260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8AB4F8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120640" y="1645920"/>
            <a:ext cx="2011680" cy="3474720"/>
          </a:xfrm>
          <a:prstGeom prst="roundRect">
            <a:avLst>
              <a:gd name="adj" fmla="val 5000"/>
            </a:avLst>
          </a:prstGeom>
          <a:solidFill>
            <a:srgbClr val="121928"/>
          </a:solidFill>
          <a:ln w="12700">
            <a:solidFill>
              <a:srgbClr val="3C5A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57800" y="182880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E3E3E3"/>
                </a:solidFill>
                <a:latin typeface="Arial"/>
              </a:defRPr>
            </a:pPr>
            <a:r>
              <a:t>⚙️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57800" y="237744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8AB4F8"/>
                </a:solidFill>
                <a:latin typeface="Arial"/>
              </a:defRPr>
            </a:pPr>
            <a:r>
              <a:t>Rules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57800" y="3017520"/>
            <a:ext cx="1737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E3E3E3"/>
                </a:solidFill>
                <a:latin typeface="Arial"/>
              </a:defRPr>
            </a:pPr>
            <a:r>
              <a:t>AI converts</a:t>
            </a:r>
            <a:br/>
            <a:r>
              <a:t>to JSON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57800" y="411480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6EE7B7"/>
                </a:solidFill>
                <a:latin typeface="Arial"/>
              </a:defRPr>
            </a:pPr>
            <a:r>
              <a:t>Human approves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86600" y="29260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8AB4F8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52359" y="1645920"/>
            <a:ext cx="2011680" cy="3474720"/>
          </a:xfrm>
          <a:prstGeom prst="roundRect">
            <a:avLst>
              <a:gd name="adj" fmla="val 5000"/>
            </a:avLst>
          </a:prstGeom>
          <a:solidFill>
            <a:srgbClr val="121928"/>
          </a:solidFill>
          <a:ln w="12700">
            <a:solidFill>
              <a:srgbClr val="3C5A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89519" y="182880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E3E3E3"/>
                </a:solidFill>
                <a:latin typeface="Arial"/>
              </a:defRPr>
            </a:pPr>
            <a:r>
              <a:t>🔍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89519" y="237744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8AB4F8"/>
                </a:solidFill>
                <a:latin typeface="Arial"/>
              </a:defRPr>
            </a:pPr>
            <a:r>
              <a:t>Screening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89519" y="3017520"/>
            <a:ext cx="1737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E3E3E3"/>
                </a:solidFill>
                <a:latin typeface="Arial"/>
              </a:defRPr>
            </a:pPr>
            <a:r>
              <a:t>On-chain trace</a:t>
            </a:r>
            <a:br/>
            <a:r>
              <a:t>+ rule matching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9519" y="411480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6EE7B7"/>
                </a:solidFill>
                <a:latin typeface="Arial"/>
              </a:defRPr>
            </a:pPr>
            <a:r>
              <a:t>Human decides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18319" y="29260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8AB4F8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784080" y="1645920"/>
            <a:ext cx="2011680" cy="3474720"/>
          </a:xfrm>
          <a:prstGeom prst="roundRect">
            <a:avLst>
              <a:gd name="adj" fmla="val 5000"/>
            </a:avLst>
          </a:prstGeom>
          <a:solidFill>
            <a:srgbClr val="121928"/>
          </a:solidFill>
          <a:ln w="12700">
            <a:solidFill>
              <a:srgbClr val="3C5A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921240" y="182880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E3E3E3"/>
                </a:solidFill>
                <a:latin typeface="Arial"/>
              </a:defRPr>
            </a:pPr>
            <a:r>
              <a:t>📡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21240" y="237744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8AB4F8"/>
                </a:solidFill>
                <a:latin typeface="Arial"/>
              </a:defRPr>
            </a:pPr>
            <a:r>
              <a:t>Monitoring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921240" y="3017520"/>
            <a:ext cx="1737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E3E3E3"/>
                </a:solidFill>
                <a:latin typeface="Arial"/>
              </a:defRPr>
            </a:pPr>
            <a:r>
              <a:t>7×24</a:t>
            </a:r>
            <a:br/>
            <a:r>
              <a:t>automated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921240" y="411480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6EE7B7"/>
                </a:solidFill>
                <a:latin typeface="Arial"/>
              </a:defRPr>
            </a:pPr>
            <a:r>
              <a:t>Human sleeps 😴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566928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28282"/>
                </a:solidFill>
                <a:latin typeface="Arial"/>
              </a:defRPr>
            </a:pPr>
            <a:r>
              <a:t>AI does 95% of the work. Humans review at key checkpoints.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828282"/>
                </a:solidFill>
                <a:latin typeface="Arial"/>
              </a:defRPr>
            </a:pPr>
            <a:r>
              <a:t>From Regulation to Screening in 5 Minutes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8AB4F8"/>
                </a:solidFill>
                <a:latin typeface="Arial"/>
              </a:defRPr>
            </a:pPr>
            <a:r>
              <a:t>📄 Step 1: Load Regulations &amp; Documents</a:t>
            </a:r>
          </a:p>
        </p:txBody>
      </p:sp>
      <p:sp>
        <p:nvSpPr>
          <p:cNvPr id="4" name="Oval 3"/>
          <p:cNvSpPr/>
          <p:nvPr/>
        </p:nvSpPr>
        <p:spPr>
          <a:xfrm>
            <a:off x="10515600" y="411480"/>
            <a:ext cx="137160" cy="137160"/>
          </a:xfrm>
          <a:prstGeom prst="ellipse">
            <a:avLst/>
          </a:prstGeom>
          <a:solidFill>
            <a:srgbClr val="8AB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789920" y="411480"/>
            <a:ext cx="137160" cy="137160"/>
          </a:xfrm>
          <a:prstGeom prst="ellipse">
            <a:avLst/>
          </a:prstGeom>
          <a:solidFill>
            <a:srgbClr val="323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064240" y="411480"/>
            <a:ext cx="137160" cy="137160"/>
          </a:xfrm>
          <a:prstGeom prst="ellipse">
            <a:avLst/>
          </a:prstGeom>
          <a:solidFill>
            <a:srgbClr val="323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338560" y="411480"/>
            <a:ext cx="137160" cy="137160"/>
          </a:xfrm>
          <a:prstGeom prst="ellipse">
            <a:avLst/>
          </a:prstGeom>
          <a:solidFill>
            <a:srgbClr val="323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612880" y="411480"/>
            <a:ext cx="137160" cy="137160"/>
          </a:xfrm>
          <a:prstGeom prst="ellipse">
            <a:avLst/>
          </a:prstGeom>
          <a:solidFill>
            <a:srgbClr val="323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887200" y="411480"/>
            <a:ext cx="137160" cy="137160"/>
          </a:xfrm>
          <a:prstGeom prst="ellipse">
            <a:avLst/>
          </a:prstGeom>
          <a:solidFill>
            <a:srgbClr val="323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" y="1371600"/>
            <a:ext cx="10698480" cy="5212080"/>
          </a:xfrm>
          <a:prstGeom prst="roundRect">
            <a:avLst>
              <a:gd name="adj" fmla="val 5000"/>
            </a:avLst>
          </a:prstGeom>
          <a:solidFill>
            <a:srgbClr val="161616"/>
          </a:solidFill>
          <a:ln w="12700"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docum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463040"/>
            <a:ext cx="105156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828282"/>
                </a:solidFill>
                <a:latin typeface="Arial"/>
              </a:defRPr>
            </a:pPr>
            <a:r>
              <a:t>From Regulation to Screening in 5 Minutes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8AB4F8"/>
                </a:solidFill>
                <a:latin typeface="Arial"/>
              </a:defRPr>
            </a:pPr>
            <a:r>
              <a:t>📋 Step 2: AI Generates Compliance Policies</a:t>
            </a:r>
          </a:p>
        </p:txBody>
      </p:sp>
      <p:sp>
        <p:nvSpPr>
          <p:cNvPr id="4" name="Oval 3"/>
          <p:cNvSpPr/>
          <p:nvPr/>
        </p:nvSpPr>
        <p:spPr>
          <a:xfrm>
            <a:off x="10515600" y="411480"/>
            <a:ext cx="137160" cy="137160"/>
          </a:xfrm>
          <a:prstGeom prst="ellipse">
            <a:avLst/>
          </a:prstGeom>
          <a:solidFill>
            <a:srgbClr val="323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789920" y="411480"/>
            <a:ext cx="137160" cy="137160"/>
          </a:xfrm>
          <a:prstGeom prst="ellipse">
            <a:avLst/>
          </a:prstGeom>
          <a:solidFill>
            <a:srgbClr val="8AB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064240" y="411480"/>
            <a:ext cx="137160" cy="137160"/>
          </a:xfrm>
          <a:prstGeom prst="ellipse">
            <a:avLst/>
          </a:prstGeom>
          <a:solidFill>
            <a:srgbClr val="323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338560" y="411480"/>
            <a:ext cx="137160" cy="137160"/>
          </a:xfrm>
          <a:prstGeom prst="ellipse">
            <a:avLst/>
          </a:prstGeom>
          <a:solidFill>
            <a:srgbClr val="323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612880" y="411480"/>
            <a:ext cx="137160" cy="137160"/>
          </a:xfrm>
          <a:prstGeom prst="ellipse">
            <a:avLst/>
          </a:prstGeom>
          <a:solidFill>
            <a:srgbClr val="323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887200" y="411480"/>
            <a:ext cx="137160" cy="137160"/>
          </a:xfrm>
          <a:prstGeom prst="ellipse">
            <a:avLst/>
          </a:prstGeom>
          <a:solidFill>
            <a:srgbClr val="323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" y="1371600"/>
            <a:ext cx="10698480" cy="5212080"/>
          </a:xfrm>
          <a:prstGeom prst="roundRect">
            <a:avLst>
              <a:gd name="adj" fmla="val 5000"/>
            </a:avLst>
          </a:prstGeom>
          <a:solidFill>
            <a:srgbClr val="161616"/>
          </a:solidFill>
          <a:ln w="12700"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polic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463040"/>
            <a:ext cx="105156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828282"/>
                </a:solidFill>
                <a:latin typeface="Arial"/>
              </a:defRPr>
            </a:pPr>
            <a:r>
              <a:t>From Regulation to Screening in 5 Minutes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8AB4F8"/>
                </a:solidFill>
                <a:latin typeface="Arial"/>
              </a:defRPr>
            </a:pPr>
            <a:r>
              <a:t>⚙️ Step 3: Convert Policies to Executable Rules</a:t>
            </a:r>
          </a:p>
        </p:txBody>
      </p:sp>
      <p:sp>
        <p:nvSpPr>
          <p:cNvPr id="4" name="Oval 3"/>
          <p:cNvSpPr/>
          <p:nvPr/>
        </p:nvSpPr>
        <p:spPr>
          <a:xfrm>
            <a:off x="10515600" y="411480"/>
            <a:ext cx="137160" cy="137160"/>
          </a:xfrm>
          <a:prstGeom prst="ellipse">
            <a:avLst/>
          </a:prstGeom>
          <a:solidFill>
            <a:srgbClr val="323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789920" y="411480"/>
            <a:ext cx="137160" cy="137160"/>
          </a:xfrm>
          <a:prstGeom prst="ellipse">
            <a:avLst/>
          </a:prstGeom>
          <a:solidFill>
            <a:srgbClr val="323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064240" y="411480"/>
            <a:ext cx="137160" cy="137160"/>
          </a:xfrm>
          <a:prstGeom prst="ellipse">
            <a:avLst/>
          </a:prstGeom>
          <a:solidFill>
            <a:srgbClr val="8AB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338560" y="411480"/>
            <a:ext cx="137160" cy="137160"/>
          </a:xfrm>
          <a:prstGeom prst="ellipse">
            <a:avLst/>
          </a:prstGeom>
          <a:solidFill>
            <a:srgbClr val="323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612880" y="411480"/>
            <a:ext cx="137160" cy="137160"/>
          </a:xfrm>
          <a:prstGeom prst="ellipse">
            <a:avLst/>
          </a:prstGeom>
          <a:solidFill>
            <a:srgbClr val="323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887200" y="411480"/>
            <a:ext cx="137160" cy="137160"/>
          </a:xfrm>
          <a:prstGeom prst="ellipse">
            <a:avLst/>
          </a:prstGeom>
          <a:solidFill>
            <a:srgbClr val="323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" y="1371600"/>
            <a:ext cx="10698480" cy="5212080"/>
          </a:xfrm>
          <a:prstGeom prst="roundRect">
            <a:avLst>
              <a:gd name="adj" fmla="val 5000"/>
            </a:avLst>
          </a:prstGeom>
          <a:solidFill>
            <a:srgbClr val="161616"/>
          </a:solidFill>
          <a:ln w="12700"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rules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463040"/>
            <a:ext cx="105156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828282"/>
                </a:solidFill>
                <a:latin typeface="Arial"/>
              </a:defRPr>
            </a:pPr>
            <a:r>
              <a:t>From Regulation to Screening in 5 Minutes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8AB4F8"/>
                </a:solidFill>
                <a:latin typeface="Arial"/>
              </a:defRPr>
            </a:pPr>
            <a:r>
              <a:t>🔍 Step 4: Screen Addresses Against Rules</a:t>
            </a:r>
          </a:p>
        </p:txBody>
      </p:sp>
      <p:sp>
        <p:nvSpPr>
          <p:cNvPr id="4" name="Oval 3"/>
          <p:cNvSpPr/>
          <p:nvPr/>
        </p:nvSpPr>
        <p:spPr>
          <a:xfrm>
            <a:off x="10515600" y="411480"/>
            <a:ext cx="137160" cy="137160"/>
          </a:xfrm>
          <a:prstGeom prst="ellipse">
            <a:avLst/>
          </a:prstGeom>
          <a:solidFill>
            <a:srgbClr val="323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789920" y="411480"/>
            <a:ext cx="137160" cy="137160"/>
          </a:xfrm>
          <a:prstGeom prst="ellipse">
            <a:avLst/>
          </a:prstGeom>
          <a:solidFill>
            <a:srgbClr val="323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064240" y="411480"/>
            <a:ext cx="137160" cy="137160"/>
          </a:xfrm>
          <a:prstGeom prst="ellipse">
            <a:avLst/>
          </a:prstGeom>
          <a:solidFill>
            <a:srgbClr val="323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338560" y="411480"/>
            <a:ext cx="137160" cy="137160"/>
          </a:xfrm>
          <a:prstGeom prst="ellipse">
            <a:avLst/>
          </a:prstGeom>
          <a:solidFill>
            <a:srgbClr val="8AB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612880" y="411480"/>
            <a:ext cx="137160" cy="137160"/>
          </a:xfrm>
          <a:prstGeom prst="ellipse">
            <a:avLst/>
          </a:prstGeom>
          <a:solidFill>
            <a:srgbClr val="323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887200" y="411480"/>
            <a:ext cx="137160" cy="137160"/>
          </a:xfrm>
          <a:prstGeom prst="ellipse">
            <a:avLst/>
          </a:prstGeom>
          <a:solidFill>
            <a:srgbClr val="323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" y="1371600"/>
            <a:ext cx="10698480" cy="5212080"/>
          </a:xfrm>
          <a:prstGeom prst="roundRect">
            <a:avLst>
              <a:gd name="adj" fmla="val 5000"/>
            </a:avLst>
          </a:prstGeom>
          <a:solidFill>
            <a:srgbClr val="161616"/>
          </a:solidFill>
          <a:ln w="12700"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screening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463040"/>
            <a:ext cx="105156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828282"/>
                </a:solidFill>
                <a:latin typeface="Arial"/>
              </a:defRPr>
            </a:pPr>
            <a:r>
              <a:t>From Regulation to Screening in 5 Minutes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8AB4F8"/>
                </a:solidFill>
                <a:latin typeface="Arial"/>
              </a:defRPr>
            </a:pPr>
            <a:r>
              <a:t>🕸️ Step 5: Visualize On-Chain Relationships</a:t>
            </a:r>
          </a:p>
        </p:txBody>
      </p:sp>
      <p:sp>
        <p:nvSpPr>
          <p:cNvPr id="4" name="Oval 3"/>
          <p:cNvSpPr/>
          <p:nvPr/>
        </p:nvSpPr>
        <p:spPr>
          <a:xfrm>
            <a:off x="10515600" y="411480"/>
            <a:ext cx="137160" cy="137160"/>
          </a:xfrm>
          <a:prstGeom prst="ellipse">
            <a:avLst/>
          </a:prstGeom>
          <a:solidFill>
            <a:srgbClr val="323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789920" y="411480"/>
            <a:ext cx="137160" cy="137160"/>
          </a:xfrm>
          <a:prstGeom prst="ellipse">
            <a:avLst/>
          </a:prstGeom>
          <a:solidFill>
            <a:srgbClr val="323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064240" y="411480"/>
            <a:ext cx="137160" cy="137160"/>
          </a:xfrm>
          <a:prstGeom prst="ellipse">
            <a:avLst/>
          </a:prstGeom>
          <a:solidFill>
            <a:srgbClr val="323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338560" y="411480"/>
            <a:ext cx="137160" cy="137160"/>
          </a:xfrm>
          <a:prstGeom prst="ellipse">
            <a:avLst/>
          </a:prstGeom>
          <a:solidFill>
            <a:srgbClr val="323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612880" y="411480"/>
            <a:ext cx="137160" cy="137160"/>
          </a:xfrm>
          <a:prstGeom prst="ellipse">
            <a:avLst/>
          </a:prstGeom>
          <a:solidFill>
            <a:srgbClr val="8AB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887200" y="411480"/>
            <a:ext cx="137160" cy="137160"/>
          </a:xfrm>
          <a:prstGeom prst="ellipse">
            <a:avLst/>
          </a:prstGeom>
          <a:solidFill>
            <a:srgbClr val="323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" y="1371600"/>
            <a:ext cx="10698480" cy="5212080"/>
          </a:xfrm>
          <a:prstGeom prst="roundRect">
            <a:avLst>
              <a:gd name="adj" fmla="val 5000"/>
            </a:avLst>
          </a:prstGeom>
          <a:solidFill>
            <a:srgbClr val="161616"/>
          </a:solidFill>
          <a:ln w="12700"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screening-grap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463040"/>
            <a:ext cx="105156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828282"/>
                </a:solidFill>
                <a:latin typeface="Arial"/>
              </a:defRPr>
            </a:pPr>
            <a:r>
              <a:t>From Regulation to Screening in 5 Minutes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8AB4F8"/>
                </a:solidFill>
                <a:latin typeface="Arial"/>
              </a:defRPr>
            </a:pPr>
            <a:r>
              <a:t>📡 Step 6: Monitor Everything From One Dashboard</a:t>
            </a:r>
          </a:p>
        </p:txBody>
      </p:sp>
      <p:sp>
        <p:nvSpPr>
          <p:cNvPr id="4" name="Oval 3"/>
          <p:cNvSpPr/>
          <p:nvPr/>
        </p:nvSpPr>
        <p:spPr>
          <a:xfrm>
            <a:off x="10515600" y="411480"/>
            <a:ext cx="137160" cy="137160"/>
          </a:xfrm>
          <a:prstGeom prst="ellipse">
            <a:avLst/>
          </a:prstGeom>
          <a:solidFill>
            <a:srgbClr val="323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789920" y="411480"/>
            <a:ext cx="137160" cy="137160"/>
          </a:xfrm>
          <a:prstGeom prst="ellipse">
            <a:avLst/>
          </a:prstGeom>
          <a:solidFill>
            <a:srgbClr val="323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064240" y="411480"/>
            <a:ext cx="137160" cy="137160"/>
          </a:xfrm>
          <a:prstGeom prst="ellipse">
            <a:avLst/>
          </a:prstGeom>
          <a:solidFill>
            <a:srgbClr val="323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338560" y="411480"/>
            <a:ext cx="137160" cy="137160"/>
          </a:xfrm>
          <a:prstGeom prst="ellipse">
            <a:avLst/>
          </a:prstGeom>
          <a:solidFill>
            <a:srgbClr val="323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612880" y="411480"/>
            <a:ext cx="137160" cy="137160"/>
          </a:xfrm>
          <a:prstGeom prst="ellipse">
            <a:avLst/>
          </a:prstGeom>
          <a:solidFill>
            <a:srgbClr val="323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887200" y="411480"/>
            <a:ext cx="137160" cy="137160"/>
          </a:xfrm>
          <a:prstGeom prst="ellipse">
            <a:avLst/>
          </a:prstGeom>
          <a:solidFill>
            <a:srgbClr val="8AB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" y="1371600"/>
            <a:ext cx="10698480" cy="5212080"/>
          </a:xfrm>
          <a:prstGeom prst="roundRect">
            <a:avLst>
              <a:gd name="adj" fmla="val 5000"/>
            </a:avLst>
          </a:prstGeom>
          <a:solidFill>
            <a:srgbClr val="161616"/>
          </a:solidFill>
          <a:ln w="12700"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463040"/>
            <a:ext cx="105156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E3E3E3"/>
                </a:solidFill>
                <a:latin typeface="Arial"/>
              </a:defRPr>
            </a:pPr>
            <a:r>
              <a:t>Built Different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234440"/>
            <a:ext cx="1828800" cy="25400"/>
          </a:xfrm>
          <a:prstGeom prst="rect">
            <a:avLst/>
          </a:prstGeom>
          <a:solidFill>
            <a:srgbClr val="8AB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1554480"/>
            <a:ext cx="3474720" cy="2103120"/>
          </a:xfrm>
          <a:prstGeom prst="roundRect">
            <a:avLst>
              <a:gd name="adj" fmla="val 5000"/>
            </a:avLst>
          </a:prstGeom>
          <a:solidFill>
            <a:srgbClr val="161616"/>
          </a:solidFill>
          <a:ln w="12700"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8AB4F8"/>
                </a:solidFill>
                <a:latin typeface="Arial"/>
              </a:defRPr>
            </a:pPr>
            <a:r>
              <a:t>🤖  Multi-AI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37744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28282"/>
                </a:solidFill>
                <a:latin typeface="Arial"/>
              </a:defRPr>
            </a:pPr>
            <a:r>
              <a:t>Claude · DeepSeek · Gemini</a:t>
            </a:r>
            <a:br/>
            <a:r>
              <a:t>Switch anytime, no vendor lock-in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554480"/>
            <a:ext cx="3474720" cy="2103120"/>
          </a:xfrm>
          <a:prstGeom prst="roundRect">
            <a:avLst>
              <a:gd name="adj" fmla="val 5000"/>
            </a:avLst>
          </a:prstGeom>
          <a:solidFill>
            <a:srgbClr val="161616"/>
          </a:solidFill>
          <a:ln w="12700"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63440" y="173736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8AB4F8"/>
                </a:solidFill>
                <a:latin typeface="Arial"/>
              </a:defRPr>
            </a:pPr>
            <a:r>
              <a:t>📁  No Database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237744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28282"/>
                </a:solidFill>
                <a:latin typeface="Arial"/>
              </a:defRPr>
            </a:pPr>
            <a:r>
              <a:t>File-based JSON storage</a:t>
            </a:r>
            <a:br/>
            <a:r>
              <a:t>Deploy anywhere, backup = cp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59" y="1554480"/>
            <a:ext cx="3474720" cy="2103120"/>
          </a:xfrm>
          <a:prstGeom prst="roundRect">
            <a:avLst>
              <a:gd name="adj" fmla="val 5000"/>
            </a:avLst>
          </a:prstGeom>
          <a:solidFill>
            <a:srgbClr val="161616"/>
          </a:solidFill>
          <a:ln w="12700"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79" y="173736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8AB4F8"/>
                </a:solidFill>
                <a:latin typeface="Arial"/>
              </a:defRPr>
            </a:pPr>
            <a:r>
              <a:t>🔓  Open Source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79" y="237744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28282"/>
                </a:solidFill>
                <a:latin typeface="Arial"/>
              </a:defRPr>
            </a:pPr>
            <a:r>
              <a:t>MIT License</a:t>
            </a:r>
            <a:br/>
            <a:r>
              <a:t>Every rule visible, full transparency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023360"/>
            <a:ext cx="3474720" cy="2103120"/>
          </a:xfrm>
          <a:prstGeom prst="roundRect">
            <a:avLst>
              <a:gd name="adj" fmla="val 5000"/>
            </a:avLst>
          </a:prstGeom>
          <a:solidFill>
            <a:srgbClr val="161616"/>
          </a:solidFill>
          <a:ln w="12700"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2062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8AB4F8"/>
                </a:solidFill>
                <a:latin typeface="Arial"/>
              </a:defRPr>
            </a:pPr>
            <a:r>
              <a:t>📝  Audit Trail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84632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28282"/>
                </a:solidFill>
                <a:latin typeface="Arial"/>
              </a:defRPr>
            </a:pPr>
            <a:r>
              <a:t>Append-only JSONL</a:t>
            </a:r>
            <a:br/>
            <a:r>
              <a:t>Tamper-resistant, compliance-ready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89120" y="4023360"/>
            <a:ext cx="3474720" cy="2103120"/>
          </a:xfrm>
          <a:prstGeom prst="roundRect">
            <a:avLst>
              <a:gd name="adj" fmla="val 5000"/>
            </a:avLst>
          </a:prstGeom>
          <a:solidFill>
            <a:srgbClr val="161616"/>
          </a:solidFill>
          <a:ln w="12700"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63440" y="42062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8AB4F8"/>
                </a:solidFill>
                <a:latin typeface="Arial"/>
              </a:defRPr>
            </a:pPr>
            <a:r>
              <a:t>🌍  Bilingual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484632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28282"/>
                </a:solidFill>
                <a:latin typeface="Arial"/>
              </a:defRPr>
            </a:pPr>
            <a:r>
              <a:t>English + 中文</a:t>
            </a:r>
            <a:br/>
            <a:r>
              <a:t>Dark &amp; Light theme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38159" y="4023360"/>
            <a:ext cx="3474720" cy="2103120"/>
          </a:xfrm>
          <a:prstGeom prst="roundRect">
            <a:avLst>
              <a:gd name="adj" fmla="val 5000"/>
            </a:avLst>
          </a:prstGeom>
          <a:solidFill>
            <a:srgbClr val="161616"/>
          </a:solidFill>
          <a:ln w="12700"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79" y="42062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8AB4F8"/>
                </a:solidFill>
                <a:latin typeface="Arial"/>
              </a:defRPr>
            </a:pPr>
            <a:r>
              <a:t>🐳  Docker Ready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79" y="484632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28282"/>
                </a:solidFill>
                <a:latin typeface="Arial"/>
              </a:defRPr>
            </a:pPr>
            <a:r>
              <a:t>One command to deploy</a:t>
            </a:r>
            <a:br/>
            <a:r>
              <a:t>Self-hosted, data stays yours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E3E3E3"/>
                </a:solidFill>
                <a:latin typeface="Arial"/>
              </a:defRPr>
            </a:pPr>
            <a:r>
              <a:t>Two Products. Both Free. Both Yours.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234440"/>
            <a:ext cx="1828800" cy="25400"/>
          </a:xfrm>
          <a:prstGeom prst="rect">
            <a:avLst/>
          </a:prstGeom>
          <a:solidFill>
            <a:srgbClr val="8AB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1554480"/>
            <a:ext cx="5303520" cy="4572000"/>
          </a:xfrm>
          <a:prstGeom prst="roundRect">
            <a:avLst>
              <a:gd name="adj" fmla="val 5000"/>
            </a:avLst>
          </a:prstGeom>
          <a:solidFill>
            <a:srgbClr val="121928"/>
          </a:solidFill>
          <a:ln w="12700">
            <a:solidFill>
              <a:srgbClr val="3C5A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7373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8AB4F8"/>
                </a:solidFill>
                <a:latin typeface="Arial"/>
              </a:defRPr>
            </a:pPr>
            <a:r>
              <a:t>🦅  AMLClaw Skill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2860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828282"/>
                </a:solidFill>
                <a:latin typeface="Arial"/>
              </a:defRPr>
            </a:pPr>
            <a:r>
              <a:t>For AI Agents</a:t>
            </a:r>
          </a:p>
        </p:txBody>
      </p:sp>
      <p:sp>
        <p:nvSpPr>
          <p:cNvPr id="7" name="Rectangle 6"/>
          <p:cNvSpPr/>
          <p:nvPr/>
        </p:nvSpPr>
        <p:spPr>
          <a:xfrm>
            <a:off x="1005840" y="2743200"/>
            <a:ext cx="4572000" cy="25400"/>
          </a:xfrm>
          <a:prstGeom prst="rect">
            <a:avLst/>
          </a:prstGeom>
          <a:solidFill>
            <a:srgbClr val="8AB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926080"/>
            <a:ext cx="4572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3E3E3"/>
                </a:solidFill>
                <a:latin typeface="Arial"/>
              </a:defRPr>
            </a:pPr>
            <a:r>
              <a:t>• Install in one sentence</a:t>
            </a:r>
            <a:br/>
            <a:r>
              <a:t>• Claude Code / OpenClaw / any framework</a:t>
            </a:r>
            <a:br/>
            <a:r>
              <a:t>• CLI-based, lightweight</a:t>
            </a:r>
            <a:br/>
            <a:r>
              <a:t>• Ships as SKILL.md entry point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5840" y="4846320"/>
            <a:ext cx="4572000" cy="548640"/>
          </a:xfrm>
          <a:prstGeom prst="roundRect">
            <a:avLst>
              <a:gd name="adj" fmla="val 5000"/>
            </a:avLst>
          </a:prstGeom>
          <a:solidFill>
            <a:srgbClr val="1E231E"/>
          </a:solidFill>
          <a:ln w="12700">
            <a:solidFill>
              <a:srgbClr val="3C5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4892040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6EE7B7"/>
                </a:solidFill>
                <a:latin typeface="Courier New"/>
              </a:defRPr>
            </a:pPr>
            <a:r>
              <a:t>$ clawhub install amlclaw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55778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28282"/>
                </a:solidFill>
                <a:latin typeface="Arial"/>
              </a:defRPr>
            </a:pPr>
            <a:r>
              <a:t>github.com/amlclaw/amlclaw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1554480"/>
            <a:ext cx="5303520" cy="4572000"/>
          </a:xfrm>
          <a:prstGeom prst="roundRect">
            <a:avLst>
              <a:gd name="adj" fmla="val 5000"/>
            </a:avLst>
          </a:prstGeom>
          <a:solidFill>
            <a:srgbClr val="121928"/>
          </a:solidFill>
          <a:ln w="12700">
            <a:solidFill>
              <a:srgbClr val="3C5A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0" y="17373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8AB4F8"/>
                </a:solidFill>
                <a:latin typeface="Arial"/>
              </a:defRPr>
            </a:pPr>
            <a:r>
              <a:t>🖥️  AMLClaw Dashboard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0" y="22860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828282"/>
                </a:solidFill>
                <a:latin typeface="Arial"/>
              </a:defRPr>
            </a:pPr>
            <a:r>
              <a:t>For Humans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766560" y="2743200"/>
            <a:ext cx="4572000" cy="25400"/>
          </a:xfrm>
          <a:prstGeom prst="rect">
            <a:avLst/>
          </a:prstGeom>
          <a:solidFill>
            <a:srgbClr val="8AB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66560" y="2926080"/>
            <a:ext cx="4572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3E3E3"/>
                </a:solidFill>
                <a:latin typeface="Arial"/>
              </a:defRPr>
            </a:pPr>
            <a:r>
              <a:t>• Full Web UI (Next.js)</a:t>
            </a:r>
            <a:br/>
            <a:r>
              <a:t>• Visual flow graphs &amp; reports</a:t>
            </a:r>
            <a:br/>
            <a:r>
              <a:t>• Monitoring dashboard</a:t>
            </a:r>
            <a:br/>
            <a:r>
              <a:t>• Self-hostable, Docker-ready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766560" y="4846320"/>
            <a:ext cx="4572000" cy="548640"/>
          </a:xfrm>
          <a:prstGeom prst="roundRect">
            <a:avLst>
              <a:gd name="adj" fmla="val 5000"/>
            </a:avLst>
          </a:prstGeom>
          <a:solidFill>
            <a:srgbClr val="1E231E"/>
          </a:solidFill>
          <a:ln w="12700">
            <a:solidFill>
              <a:srgbClr val="3C5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49440" y="4892040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6EE7B7"/>
                </a:solidFill>
                <a:latin typeface="Courier New"/>
              </a:defRPr>
            </a:pPr>
            <a:r>
              <a:t>$ docker compose up -d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6560" y="55778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28282"/>
                </a:solidFill>
                <a:latin typeface="Arial"/>
              </a:defRPr>
            </a:pPr>
            <a:r>
              <a:t>github.com/amlclaw/amlclaw.com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E3E3E3"/>
                </a:solidFill>
                <a:latin typeface="Arial"/>
              </a:defRPr>
            </a:pPr>
            <a:r>
              <a:t>The Math Is Embarrassingly Simple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234440"/>
            <a:ext cx="1828800" cy="25400"/>
          </a:xfrm>
          <a:prstGeom prst="rect">
            <a:avLst/>
          </a:prstGeom>
          <a:solidFill>
            <a:srgbClr val="8AB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097280" y="1645920"/>
          <a:ext cx="987552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3200400"/>
                <a:gridCol w="3931920"/>
              </a:tblGrid>
              <a:tr h="522514">
                <a:tc>
                  <a:txBody>
                    <a:bodyPr/>
                    <a:lstStyle/>
                    <a:p>
                      <a:pPr algn="l">
                        <a:defRPr sz="1600" b="1">
                          <a:solidFill>
                            <a:srgbClr val="8AB4F8"/>
                          </a:solidFill>
                          <a:latin typeface="Arial"/>
                        </a:defRPr>
                      </a:pPr>
                    </a:p>
                  </a:txBody>
                  <a:tcPr anchor="ctr">
                    <a:solidFill>
                      <a:srgbClr val="191E2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8AB4F8"/>
                          </a:solidFill>
                          <a:latin typeface="Arial"/>
                        </a:defRPr>
                      </a:pPr>
                      <a:r>
                        <a:t>Traditional Team</a:t>
                      </a:r>
                    </a:p>
                  </a:txBody>
                  <a:tcPr anchor="ctr">
                    <a:solidFill>
                      <a:srgbClr val="191E2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8AB4F8"/>
                          </a:solidFill>
                          <a:latin typeface="Arial"/>
                        </a:defRPr>
                      </a:pPr>
                      <a:r>
                        <a:t>AMLClaw</a:t>
                      </a:r>
                    </a:p>
                  </a:txBody>
                  <a:tcPr anchor="ctr">
                    <a:solidFill>
                      <a:srgbClr val="191E2D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 algn="l">
                        <a:defRPr sz="1500" b="1">
                          <a:solidFill>
                            <a:srgbClr val="E3E3E3"/>
                          </a:solidFill>
                          <a:latin typeface="Arial"/>
                        </a:defRPr>
                      </a:pPr>
                      <a:r>
                        <a:t>Annual Cost</a:t>
                      </a:r>
                    </a:p>
                  </a:txBody>
                  <a:tcPr anchor="ctr">
                    <a:solidFill>
                      <a:srgbClr val="12121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828282"/>
                          </a:solidFill>
                          <a:latin typeface="Arial"/>
                        </a:defRPr>
                      </a:pPr>
                      <a:r>
                        <a:t>$500K – $1M</a:t>
                      </a:r>
                    </a:p>
                  </a:txBody>
                  <a:tcPr anchor="ctr">
                    <a:solidFill>
                      <a:srgbClr val="12121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8AB4F8"/>
                          </a:solidFill>
                          <a:latin typeface="Arial"/>
                        </a:defRPr>
                      </a:pPr>
                      <a:r>
                        <a:t>~$50–200/mo AI API *</a:t>
                      </a:r>
                    </a:p>
                  </a:txBody>
                  <a:tcPr anchor="ctr">
                    <a:solidFill>
                      <a:srgbClr val="0F1628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 algn="l">
                        <a:defRPr sz="1500" b="1">
                          <a:solidFill>
                            <a:srgbClr val="E3E3E3"/>
                          </a:solidFill>
                          <a:latin typeface="Arial"/>
                        </a:defRPr>
                      </a:pPr>
                      <a:r>
                        <a:t>Setup Time</a:t>
                      </a:r>
                    </a:p>
                  </a:txBody>
                  <a:tcPr anchor="ctr"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828282"/>
                          </a:solidFill>
                          <a:latin typeface="Arial"/>
                        </a:defRPr>
                      </a:pPr>
                      <a:r>
                        <a:t>3–6 months</a:t>
                      </a:r>
                    </a:p>
                  </a:txBody>
                  <a:tcPr anchor="ctr"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8AB4F8"/>
                          </a:solidFill>
                          <a:latin typeface="Arial"/>
                        </a:defRPr>
                      </a:pPr>
                      <a:r>
                        <a:t>5 minutes</a:t>
                      </a:r>
                    </a:p>
                  </a:txBody>
                  <a:tcPr anchor="ctr">
                    <a:solidFill>
                      <a:srgbClr val="0F1628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 algn="l">
                        <a:defRPr sz="1500" b="1">
                          <a:solidFill>
                            <a:srgbClr val="E3E3E3"/>
                          </a:solidFill>
                          <a:latin typeface="Arial"/>
                        </a:defRPr>
                      </a:pPr>
                      <a:r>
                        <a:t>Policy Generation</a:t>
                      </a:r>
                    </a:p>
                  </a:txBody>
                  <a:tcPr anchor="ctr">
                    <a:solidFill>
                      <a:srgbClr val="12121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828282"/>
                          </a:solidFill>
                          <a:latin typeface="Arial"/>
                        </a:defRPr>
                      </a:pPr>
                      <a:r>
                        <a:t>2–4 weeks</a:t>
                      </a:r>
                    </a:p>
                  </a:txBody>
                  <a:tcPr anchor="ctr">
                    <a:solidFill>
                      <a:srgbClr val="12121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8AB4F8"/>
                          </a:solidFill>
                          <a:latin typeface="Arial"/>
                        </a:defRPr>
                      </a:pPr>
                      <a:r>
                        <a:t>2 minutes</a:t>
                      </a:r>
                    </a:p>
                  </a:txBody>
                  <a:tcPr anchor="ctr">
                    <a:solidFill>
                      <a:srgbClr val="0F1628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 algn="l">
                        <a:defRPr sz="1500" b="1">
                          <a:solidFill>
                            <a:srgbClr val="E3E3E3"/>
                          </a:solidFill>
                          <a:latin typeface="Arial"/>
                        </a:defRPr>
                      </a:pPr>
                      <a:r>
                        <a:t>Address Screening</a:t>
                      </a:r>
                    </a:p>
                  </a:txBody>
                  <a:tcPr anchor="ctr"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828282"/>
                          </a:solidFill>
                          <a:latin typeface="Arial"/>
                        </a:defRPr>
                      </a:pPr>
                      <a:r>
                        <a:t>Half a day</a:t>
                      </a:r>
                    </a:p>
                  </a:txBody>
                  <a:tcPr anchor="ctr"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8AB4F8"/>
                          </a:solidFill>
                          <a:latin typeface="Arial"/>
                        </a:defRPr>
                      </a:pPr>
                      <a:r>
                        <a:t>&lt; 5 minutes</a:t>
                      </a:r>
                    </a:p>
                  </a:txBody>
                  <a:tcPr anchor="ctr">
                    <a:solidFill>
                      <a:srgbClr val="0F1628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 algn="l">
                        <a:defRPr sz="1500" b="1">
                          <a:solidFill>
                            <a:srgbClr val="E3E3E3"/>
                          </a:solidFill>
                          <a:latin typeface="Arial"/>
                        </a:defRPr>
                      </a:pPr>
                      <a:r>
                        <a:t>Monitoring</a:t>
                      </a:r>
                    </a:p>
                  </a:txBody>
                  <a:tcPr anchor="ctr">
                    <a:solidFill>
                      <a:srgbClr val="12121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828282"/>
                          </a:solidFill>
                          <a:latin typeface="Arial"/>
                        </a:defRPr>
                      </a:pPr>
                      <a:r>
                        <a:t>Spot checks</a:t>
                      </a:r>
                    </a:p>
                  </a:txBody>
                  <a:tcPr anchor="ctr">
                    <a:solidFill>
                      <a:srgbClr val="12121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8AB4F8"/>
                          </a:solidFill>
                          <a:latin typeface="Arial"/>
                        </a:defRPr>
                      </a:pPr>
                      <a:r>
                        <a:t>24/7 automated</a:t>
                      </a:r>
                    </a:p>
                  </a:txBody>
                  <a:tcPr anchor="ctr">
                    <a:solidFill>
                      <a:srgbClr val="0F1628"/>
                    </a:solidFill>
                  </a:tcPr>
                </a:tc>
              </a:tr>
              <a:tr h="522516">
                <a:tc>
                  <a:txBody>
                    <a:bodyPr/>
                    <a:lstStyle/>
                    <a:p>
                      <a:pPr algn="l">
                        <a:defRPr sz="1500" b="1">
                          <a:solidFill>
                            <a:srgbClr val="E3E3E3"/>
                          </a:solidFill>
                          <a:latin typeface="Arial"/>
                        </a:defRPr>
                      </a:pPr>
                      <a:r>
                        <a:t>Transparency</a:t>
                      </a:r>
                    </a:p>
                  </a:txBody>
                  <a:tcPr anchor="ctr"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828282"/>
                          </a:solidFill>
                          <a:latin typeface="Arial"/>
                        </a:defRPr>
                      </a:pPr>
                      <a:r>
                        <a:t>Black-box scores</a:t>
                      </a:r>
                    </a:p>
                  </a:txBody>
                  <a:tcPr anchor="ctr"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8AB4F8"/>
                          </a:solidFill>
                          <a:latin typeface="Arial"/>
                        </a:defRPr>
                      </a:pPr>
                      <a:r>
                        <a:t>Open source, every rule visible</a:t>
                      </a:r>
                    </a:p>
                  </a:txBody>
                  <a:tcPr anchor="ctr">
                    <a:solidFill>
                      <a:srgbClr val="0F162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097280" y="5669280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28282"/>
                </a:solidFill>
                <a:latin typeface="Arial"/>
              </a:defRPr>
            </a:pPr>
            <a:r>
              <a:t>* AI API cost depends on usage. ~$50/mo covers most small-to-mid operations. Platform itself is free.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E3E3E3"/>
                </a:solidFill>
                <a:latin typeface="Arial"/>
              </a:defRPr>
            </a:pPr>
            <a:r>
              <a:t>What's Next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234440"/>
            <a:ext cx="1828800" cy="25400"/>
          </a:xfrm>
          <a:prstGeom prst="rect">
            <a:avLst/>
          </a:prstGeom>
          <a:solidFill>
            <a:srgbClr val="8AB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515600" cy="1280160"/>
          </a:xfrm>
          <a:prstGeom prst="roundRect">
            <a:avLst>
              <a:gd name="adj" fmla="val 5000"/>
            </a:avLst>
          </a:prstGeom>
          <a:solidFill>
            <a:srgbClr val="121928"/>
          </a:solidFill>
          <a:ln w="12700">
            <a:solidFill>
              <a:srgbClr val="3C5A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7373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EE7B7"/>
                </a:solidFill>
                <a:latin typeface="Arial"/>
              </a:defRPr>
            </a:pPr>
            <a:r>
              <a:t>NOW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194560"/>
            <a:ext cx="9875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3E3E3"/>
                </a:solidFill>
                <a:latin typeface="Arial"/>
              </a:defRPr>
            </a:pPr>
            <a:r>
              <a:t>✅ 3 Jurisdictions (SG, HK, Dubai)     ✅ 40+ Regulations     ✅ Tron Chain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200400"/>
            <a:ext cx="10515600" cy="1645920"/>
          </a:xfrm>
          <a:prstGeom prst="roundRect">
            <a:avLst>
              <a:gd name="adj" fmla="val 5000"/>
            </a:avLst>
          </a:prstGeom>
          <a:solidFill>
            <a:srgbClr val="161616"/>
          </a:solidFill>
          <a:ln w="12700"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32918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8AB4F8"/>
                </a:solidFill>
                <a:latin typeface="Arial"/>
              </a:defRPr>
            </a:pPr>
            <a:r>
              <a:t>NEXT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749039"/>
            <a:ext cx="9875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3E3E3"/>
                </a:solidFill>
                <a:latin typeface="Arial"/>
              </a:defRPr>
            </a:pPr>
            <a:r>
              <a:t>🔗 Bitcoin + Multi-chain Stablecoins</a:t>
            </a:r>
            <a:br/>
            <a:r>
              <a:t>🪪 KYC + Travel Rule  —  TrustIn acquired a KYC company, building identity + on-chain compliance</a:t>
            </a:r>
            <a:br/>
            <a:r>
              <a:t>🇪🇺 MiCA (EU)     🇺🇸 FinCEN (US)     🔌 Plugin System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0" y="5120640"/>
            <a:ext cx="9418320" cy="1280160"/>
          </a:xfrm>
          <a:prstGeom prst="roundRect">
            <a:avLst>
              <a:gd name="adj" fmla="val 5000"/>
            </a:avLst>
          </a:prstGeom>
          <a:solidFill>
            <a:srgbClr val="141414"/>
          </a:solidFill>
          <a:ln w="12700">
            <a:solidFill>
              <a:srgbClr val="2D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45920" y="5212080"/>
            <a:ext cx="8869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828282"/>
                </a:solidFill>
                <a:latin typeface="Arial"/>
              </a:defRPr>
            </a:pPr>
            <a:r>
              <a:t>Why Open Source?</a:t>
            </a:r>
            <a:br/>
            <a:r>
              <a:t>TrustIn already runs the SaaS. AMLClaw is the open-source edition —</a:t>
            </a:r>
            <a:br/>
            <a:r>
              <a:t>making AML accessible to everyone. Compliance shouldn't be a privilege.</a:t>
            </a:r>
            <a:br/>
            <a:r>
              <a:t>It should be infrastructure.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E3E3E3"/>
                </a:solidFill>
                <a:latin typeface="Arial"/>
              </a:defRPr>
            </a:pPr>
            <a:r>
              <a:t>Try It Now. On Your Phone.  ⚡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0" y="1554480"/>
            <a:ext cx="3017520" cy="25400"/>
          </a:xfrm>
          <a:prstGeom prst="rect">
            <a:avLst/>
          </a:prstGeom>
          <a:solidFill>
            <a:srgbClr val="8AB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286000" y="2103120"/>
            <a:ext cx="548640" cy="548640"/>
          </a:xfrm>
          <a:prstGeom prst="roundRect">
            <a:avLst>
              <a:gd name="adj" fmla="val 5000"/>
            </a:avLst>
          </a:prstGeom>
          <a:solidFill>
            <a:srgbClr val="283C5A"/>
          </a:solidFill>
          <a:ln w="12700">
            <a:solidFill>
              <a:srgbClr val="8AB4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0" y="21488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8AB4F8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2148840"/>
            <a:ext cx="6858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E3E3E3"/>
                </a:solidFill>
                <a:latin typeface="Arial"/>
              </a:defRPr>
            </a:pPr>
            <a:r>
              <a:t>Open OpenClaw on your phone  🦞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86000" y="3474720"/>
            <a:ext cx="548640" cy="548640"/>
          </a:xfrm>
          <a:prstGeom prst="roundRect">
            <a:avLst>
              <a:gd name="adj" fmla="val 5000"/>
            </a:avLst>
          </a:prstGeom>
          <a:solidFill>
            <a:srgbClr val="283C5A"/>
          </a:solidFill>
          <a:ln w="12700">
            <a:solidFill>
              <a:srgbClr val="8AB4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86000" y="35204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8AB4F8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3520440"/>
            <a:ext cx="6858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E3E3E3"/>
                </a:solidFill>
                <a:latin typeface="Arial"/>
              </a:defRPr>
            </a:pPr>
            <a:r>
              <a:t>Tell your agent:</a:t>
            </a:r>
            <a:br/>
            <a:r>
              <a:t>"Search GitHub for amlclaw and install it"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286000" y="4846320"/>
            <a:ext cx="548640" cy="548640"/>
          </a:xfrm>
          <a:prstGeom prst="roundRect">
            <a:avLst>
              <a:gd name="adj" fmla="val 5000"/>
            </a:avLst>
          </a:prstGeom>
          <a:solidFill>
            <a:srgbClr val="283C5A"/>
          </a:solidFill>
          <a:ln w="12700">
            <a:solidFill>
              <a:srgbClr val="8AB4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286000" y="48920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8AB4F8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4892040"/>
            <a:ext cx="6858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8AB4F8"/>
                </a:solidFill>
                <a:latin typeface="Arial"/>
              </a:defRPr>
            </a:pPr>
            <a:r>
              <a:t>Done. Your AI agent is now a compliance expert.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76072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828282"/>
                </a:solidFill>
                <a:latin typeface="Arial"/>
              </a:defRPr>
            </a:pPr>
            <a:r>
              <a:t>"You just deployed a compliance team in 10 seconds."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0" y="2011680"/>
            <a:ext cx="3931920" cy="25400"/>
          </a:xfrm>
          <a:prstGeom prst="rect">
            <a:avLst/>
          </a:prstGeom>
          <a:solidFill>
            <a:srgbClr val="8AB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286000"/>
            <a:ext cx="94183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E3E3E3"/>
                </a:solidFill>
                <a:latin typeface="Arial"/>
              </a:defRPr>
            </a:pPr>
            <a:r>
              <a:t>The End Game of Compliance</a:t>
            </a:r>
            <a:br/>
            <a:r>
              <a:t>Isn't More People —</a:t>
            </a:r>
            <a:br/>
            <a:r>
              <a:t>It's a Better System.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0" y="4572000"/>
            <a:ext cx="3931920" cy="25400"/>
          </a:xfrm>
          <a:prstGeom prst="rect">
            <a:avLst/>
          </a:prstGeom>
          <a:solidFill>
            <a:srgbClr val="8AB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50292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8AB4F8"/>
                </a:solidFill>
                <a:latin typeface="Arial"/>
              </a:defRPr>
            </a:pPr>
            <a:r>
              <a:t>github.com/amlclaw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57784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28282"/>
                </a:solidFill>
                <a:latin typeface="Arial"/>
              </a:defRPr>
            </a:pPr>
            <a:r>
              <a:t>MIT License  ·  Free Forever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